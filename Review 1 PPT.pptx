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6"/>
  </p:notesMasterIdLst>
  <p:sldIdLst>
    <p:sldId id="256" r:id="rId3"/>
    <p:sldId id="257" r:id="rId4"/>
    <p:sldId id="260" r:id="rId5"/>
    <p:sldId id="275" r:id="rId6"/>
    <p:sldId id="274" r:id="rId7"/>
    <p:sldId id="261" r:id="rId8"/>
    <p:sldId id="271" r:id="rId9"/>
    <p:sldId id="280" r:id="rId10"/>
    <p:sldId id="278" r:id="rId11"/>
    <p:sldId id="265" r:id="rId12"/>
    <p:sldId id="276" r:id="rId13"/>
    <p:sldId id="273" r:id="rId14"/>
    <p:sldId id="263" r:id="rId15"/>
    <p:sldId id="266" r:id="rId16"/>
    <p:sldId id="267" r:id="rId17"/>
    <p:sldId id="268" r:id="rId18"/>
    <p:sldId id="281" r:id="rId19"/>
    <p:sldId id="282" r:id="rId20"/>
    <p:sldId id="283" r:id="rId21"/>
    <p:sldId id="285" r:id="rId22"/>
    <p:sldId id="284" r:id="rId23"/>
    <p:sldId id="277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Stage-1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0.95599999999999996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D6-476A-8E8B-4980A9113B2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Stage-2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0.72</c:v>
                </c:pt>
                <c:pt idx="1">
                  <c:v>0.65</c:v>
                </c:pt>
                <c:pt idx="2">
                  <c:v>0.97</c:v>
                </c:pt>
                <c:pt idx="3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D6-476A-8E8B-4980A9113B2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Stage-3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Sheet1!$B$4:$E$4</c:f>
              <c:numCache>
                <c:formatCode>General</c:formatCode>
                <c:ptCount val="4"/>
                <c:pt idx="0">
                  <c:v>0.64</c:v>
                </c:pt>
                <c:pt idx="1">
                  <c:v>0.59</c:v>
                </c:pt>
                <c:pt idx="2">
                  <c:v>0.87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D6-476A-8E8B-4980A9113B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2459040"/>
        <c:axId val="292465280"/>
      </c:barChart>
      <c:catAx>
        <c:axId val="292459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465280"/>
        <c:crosses val="autoZero"/>
        <c:auto val="1"/>
        <c:lblAlgn val="ctr"/>
        <c:lblOffset val="100"/>
        <c:noMultiLvlLbl val="0"/>
      </c:catAx>
      <c:valAx>
        <c:axId val="292465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459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45A86-8B94-4652-B5A2-BE35256A21D6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A6F00-0470-4E00-99D5-F10E0482B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41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A6F00-0470-4E00-99D5-F10E0482BF9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24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89D7D-88F8-4EAA-ABEA-1F5E306EFA5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627" y="925566"/>
            <a:ext cx="1110210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chemeClr val="accent1"/>
                </a:solidFill>
                <a:effectLst/>
                <a:latin typeface="Bookman Old Style" panose="02050604050505020204" pitchFamily="18" charset="0"/>
              </a:rPr>
              <a:t>Dayananda Sagar University (DSU) - Main Campus</a:t>
            </a:r>
          </a:p>
          <a:p>
            <a:pPr algn="ctr"/>
            <a:r>
              <a:rPr lang="en-US" sz="2400" b="1" i="0" dirty="0">
                <a:solidFill>
                  <a:schemeClr val="accent1"/>
                </a:solidFill>
                <a:effectLst/>
                <a:latin typeface="Bookman Old Style" panose="02050604050505020204" pitchFamily="18" charset="0"/>
              </a:rPr>
              <a:t>School of Engineering</a:t>
            </a:r>
          </a:p>
          <a:p>
            <a:pPr algn="ctr"/>
            <a:r>
              <a:rPr lang="en-US" sz="1200" b="1" i="0" dirty="0" err="1">
                <a:effectLst/>
                <a:latin typeface="Bookman Old Style" panose="02050604050505020204" pitchFamily="18" charset="0"/>
              </a:rPr>
              <a:t>Devarakaggalahalli</a:t>
            </a:r>
            <a:r>
              <a:rPr lang="en-US" sz="1200" b="1" i="0" dirty="0">
                <a:effectLst/>
                <a:latin typeface="Bookman Old Style" panose="02050604050505020204" pitchFamily="18" charset="0"/>
              </a:rPr>
              <a:t>, </a:t>
            </a:r>
            <a:r>
              <a:rPr lang="en-US" sz="1200" b="1" i="0" dirty="0" err="1">
                <a:effectLst/>
                <a:latin typeface="Bookman Old Style" panose="02050604050505020204" pitchFamily="18" charset="0"/>
              </a:rPr>
              <a:t>Harohalli</a:t>
            </a:r>
            <a:r>
              <a:rPr lang="en-US" sz="1200" b="1" i="0" dirty="0">
                <a:effectLst/>
                <a:latin typeface="Bookman Old Style" panose="02050604050505020204" pitchFamily="18" charset="0"/>
              </a:rPr>
              <a:t> </a:t>
            </a:r>
            <a:r>
              <a:rPr lang="en-US" sz="1200" b="1" i="0" dirty="0" err="1">
                <a:effectLst/>
                <a:latin typeface="Bookman Old Style" panose="02050604050505020204" pitchFamily="18" charset="0"/>
              </a:rPr>
              <a:t>Kanakapura</a:t>
            </a:r>
            <a:r>
              <a:rPr lang="en-US" sz="1200" b="1" i="0" dirty="0">
                <a:effectLst/>
                <a:latin typeface="Bookman Old Style" panose="02050604050505020204" pitchFamily="18" charset="0"/>
              </a:rPr>
              <a:t> Road, Bengaluru South Dist., Karnataka 562112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527" y="1972006"/>
            <a:ext cx="11720945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DEPARTMENT OF</a:t>
            </a:r>
          </a:p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COMPUTER SCIENCE AND ENGINEERING </a:t>
            </a:r>
          </a:p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(ARTIFICIAL INTELLIGENCE AND MACHINE LEARNING)</a:t>
            </a:r>
          </a:p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Capstone Project Phase-II (22AM4801)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Review-I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208" y="3603222"/>
            <a:ext cx="1172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Title: “</a:t>
            </a:r>
            <a:r>
              <a:rPr lang="en-US" sz="2000" b="1" dirty="0"/>
              <a:t>Multi-Stage Deep Learning Based CCTV Crime Detection System</a:t>
            </a:r>
            <a:r>
              <a:rPr lang="en-IN" sz="2000" b="1" dirty="0">
                <a:latin typeface="Bookman Old Style" panose="02050604050505020204" pitchFamily="18" charset="0"/>
              </a:rPr>
              <a:t>”</a:t>
            </a: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Google Shape;65;p2"/>
          <p:cNvSpPr txBox="1"/>
          <p:nvPr/>
        </p:nvSpPr>
        <p:spPr>
          <a:xfrm>
            <a:off x="312208" y="4311149"/>
            <a:ext cx="4312955" cy="135417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Under the Supervision of </a:t>
            </a:r>
          </a:p>
          <a:p>
            <a:pPr algn="ctr"/>
            <a:r>
              <a:rPr lang="en-US" b="1" dirty="0">
                <a:solidFill>
                  <a:schemeClr val="bg2"/>
                </a:solidFill>
              </a:rPr>
              <a:t>Prof. </a:t>
            </a:r>
            <a:r>
              <a:rPr lang="en-US" b="1" dirty="0" err="1">
                <a:solidFill>
                  <a:schemeClr val="bg2"/>
                </a:solidFill>
              </a:rPr>
              <a:t>Sriramkumar</a:t>
            </a:r>
            <a:r>
              <a:rPr lang="en-US" b="1" dirty="0">
                <a:solidFill>
                  <a:schemeClr val="bg2"/>
                </a:solidFill>
              </a:rPr>
              <a:t> R</a:t>
            </a:r>
          </a:p>
          <a:p>
            <a:pPr algn="ctr"/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Calibri" panose="020F0502020204030204"/>
                <a:cs typeface="Calibri" panose="020F0502020204030204"/>
                <a:sym typeface="Trebuchet MS" panose="020B0603020202020204"/>
              </a:rPr>
              <a:t>Assistant Professor</a:t>
            </a:r>
          </a:p>
          <a:p>
            <a:pPr algn="ctr"/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Calibri" panose="020F0502020204030204"/>
                <a:cs typeface="Calibri" panose="020F0502020204030204"/>
                <a:sym typeface="Trebuchet MS" panose="020B0603020202020204"/>
              </a:rPr>
              <a:t>Department of CSE (AI&amp;ML)</a:t>
            </a:r>
          </a:p>
          <a:p>
            <a:pPr algn="ctr"/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Calibri" panose="020F0502020204030204"/>
                <a:cs typeface="Calibri" panose="020F0502020204030204"/>
                <a:sym typeface="Trebuchet MS" panose="020B0603020202020204"/>
              </a:rPr>
              <a:t>SOE, DSU.</a:t>
            </a:r>
            <a:endParaRPr sz="1600" dirty="0">
              <a:solidFill>
                <a:schemeClr val="lt1"/>
              </a:solidFill>
              <a:latin typeface="Bookman Old Style" panose="02050604050505020204" pitchFamily="18" charset="0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Google Shape;65;p2"/>
          <p:cNvSpPr txBox="1"/>
          <p:nvPr/>
        </p:nvSpPr>
        <p:spPr>
          <a:xfrm>
            <a:off x="6950468" y="4410387"/>
            <a:ext cx="4312955" cy="107717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Amar H M                        ENG23AM1001  </a:t>
            </a:r>
          </a:p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Sanjay S                          ENG23AM1004    </a:t>
            </a:r>
            <a:endParaRPr lang="en-IN" sz="1600" dirty="0">
              <a:solidFill>
                <a:schemeClr val="lt1"/>
              </a:solidFill>
              <a:latin typeface="Bookman Old Style" panose="02050604050505020204" pitchFamily="18" charset="0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Deepak Mahto                 ENG22AM0087    </a:t>
            </a:r>
            <a:endParaRPr lang="en-IN" sz="1600" dirty="0">
              <a:solidFill>
                <a:schemeClr val="lt1"/>
              </a:solidFill>
              <a:latin typeface="Bookman Old Style" panose="02050604050505020204" pitchFamily="18" charset="0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Shashanka N                   ENG23AM1006   </a:t>
            </a:r>
            <a:endParaRPr sz="1600" dirty="0">
              <a:solidFill>
                <a:schemeClr val="lt1"/>
              </a:solidFill>
              <a:latin typeface="Bookman Old Style" panose="02050604050505020204" pitchFamily="18" charset="0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41148" y="5932434"/>
            <a:ext cx="609777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Academic Year: 202</a:t>
            </a:r>
            <a:r>
              <a:rPr lang="en-IN" altLang="en-US" dirty="0">
                <a:latin typeface="Bookman Old Style" panose="02050604050505020204" pitchFamily="18" charset="0"/>
              </a:rPr>
              <a:t>5</a:t>
            </a:r>
            <a:r>
              <a:rPr lang="en-US" dirty="0">
                <a:latin typeface="Bookman Old Style" panose="02050604050505020204" pitchFamily="18" charset="0"/>
              </a:rPr>
              <a:t>-202</a:t>
            </a:r>
            <a:r>
              <a:rPr lang="en-IN" altLang="en-US" dirty="0">
                <a:latin typeface="Bookman Old Style" panose="02050604050505020204" pitchFamily="18" charset="0"/>
              </a:rP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74" y="744892"/>
            <a:ext cx="10515600" cy="71695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4352" y="1253330"/>
            <a:ext cx="10515600" cy="5147469"/>
          </a:xfrm>
        </p:spPr>
        <p:txBody>
          <a:bodyPr>
            <a:noAutofit/>
          </a:bodyPr>
          <a:lstStyle/>
          <a:p>
            <a:r>
              <a:rPr lang="en-IN" altLang="en-US" sz="2400" dirty="0">
                <a:latin typeface="Bookman Old Style" panose="02050604050505020204" pitchFamily="18" charset="0"/>
              </a:rPr>
              <a:t>Conference Paper Details 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Phase 1 Review 3 Comments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Problem Statement</a:t>
            </a: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latin typeface="Bookman Old Style" panose="02050604050505020204" pitchFamily="18" charset="0"/>
              </a:rPr>
              <a:t>Objectives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Source of Data Collection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Methodology / Approach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Expected Outcomes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Timeline (Gantt Chart)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References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Code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Team Member Contributions</a:t>
            </a:r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2640"/>
            <a:ext cx="10515600" cy="888365"/>
          </a:xfrm>
        </p:spPr>
        <p:txBody>
          <a:bodyPr>
            <a:normAutofit/>
          </a:bodyPr>
          <a:lstStyle/>
          <a:p>
            <a:r>
              <a:rPr lang="en-IN" altLang="en-US" sz="2800" b="1" dirty="0">
                <a:latin typeface="Bookman Old Style" panose="02050604050505020204" pitchFamily="18" charset="0"/>
              </a:rPr>
              <a:t>Confernce Name and Acceptance Notification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altLang="en-US" sz="2400" dirty="0">
                <a:latin typeface="Bookman Old Style" panose="02050604050505020204" pitchFamily="18" charset="0"/>
              </a:rPr>
              <a:t>Conference Name: </a:t>
            </a:r>
            <a:r>
              <a:rPr lang="en-US" altLang="en-US" sz="2400" dirty="0">
                <a:latin typeface="Bookman Old Style" panose="02050604050505020204" pitchFamily="18" charset="0"/>
              </a:rPr>
              <a:t>International conference on robotics ML AI (ICRMLAI) South Asia Research Center(SARC)</a:t>
            </a:r>
          </a:p>
          <a:p>
            <a:pPr marL="0" indent="0">
              <a:buNone/>
            </a:pPr>
            <a:r>
              <a:rPr lang="en-US" altLang="en-US" sz="2400" dirty="0">
                <a:latin typeface="Bookman Old Style" panose="02050604050505020204" pitchFamily="18" charset="0"/>
              </a:rPr>
              <a:t>Status – Yet to Apply</a:t>
            </a:r>
          </a:p>
          <a:p>
            <a:pPr marL="0" indent="0">
              <a:buNone/>
            </a:pPr>
            <a:r>
              <a:rPr lang="en-IN" altLang="en-US" sz="2400" dirty="0">
                <a:latin typeface="Bookman Old Style" panose="02050604050505020204" pitchFamily="18" charset="0"/>
              </a:rPr>
              <a:t>Mail Acceptance: Pending</a:t>
            </a:r>
          </a:p>
          <a:p>
            <a:pPr marL="0" indent="0">
              <a:buNone/>
            </a:pPr>
            <a:r>
              <a:rPr lang="en-IN" altLang="en-US" sz="2400" dirty="0">
                <a:latin typeface="Bookman Old Style" panose="02050604050505020204" pitchFamily="18" charset="0"/>
              </a:rPr>
              <a:t>Paper Presentation Date:</a:t>
            </a:r>
            <a:r>
              <a:rPr lang="en-US" altLang="en-US" sz="2400" dirty="0">
                <a:latin typeface="Bookman Old Style" panose="02050604050505020204" pitchFamily="18" charset="0"/>
              </a:rPr>
              <a:t> 27 march 2026, Mysore India </a:t>
            </a:r>
            <a:endParaRPr lang="en-IN" alt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751" y="856209"/>
            <a:ext cx="10515600" cy="888365"/>
          </a:xfrm>
        </p:spPr>
        <p:txBody>
          <a:bodyPr>
            <a:normAutofit/>
          </a:bodyPr>
          <a:lstStyle/>
          <a:p>
            <a:r>
              <a:rPr lang="en-IN" altLang="en-US" sz="2800" b="1" dirty="0">
                <a:latin typeface="Bookman Old Style" panose="02050604050505020204" pitchFamily="18" charset="0"/>
              </a:rPr>
              <a:t>Phase I Review 3 Comments addressed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830" y="1859454"/>
            <a:ext cx="10515600" cy="49985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800" b="1" dirty="0"/>
              <a:t>Suggestion 1 - Use multiple models for better activity understanding</a:t>
            </a:r>
          </a:p>
          <a:p>
            <a:pPr marL="0" indent="0">
              <a:buNone/>
            </a:pPr>
            <a:r>
              <a:rPr lang="en-US" sz="1800" b="1" dirty="0"/>
              <a:t>Solution: </a:t>
            </a:r>
            <a:r>
              <a:rPr lang="en-US" sz="1800" dirty="0"/>
              <a:t>A multi-stage deep learning framework is implemented where different models perform specific tasks. Motion detection filters inactive frames, MobileNetV2 detects abnormal behavior, ResNet18 identifies fight activity, and R3D-18 performs temporal crime analysis. Using multiple models improves accuracy and reduces false alarms by dividing the problem into smaller tasks.</a:t>
            </a:r>
          </a:p>
          <a:p>
            <a:pPr marL="0" indent="0">
              <a:buNone/>
            </a:pPr>
            <a:br>
              <a:rPr lang="en-US" sz="1800" dirty="0"/>
            </a:br>
            <a:r>
              <a:rPr lang="en-US" sz="1800" b="1" dirty="0"/>
              <a:t>Suggestion 2 - Use large and diverse datasets for better validation</a:t>
            </a:r>
          </a:p>
          <a:p>
            <a:pPr marL="0" indent="0">
              <a:buNone/>
            </a:pPr>
            <a:r>
              <a:rPr lang="en-US" sz="1800" b="1" dirty="0"/>
              <a:t>Solution: </a:t>
            </a:r>
            <a:r>
              <a:rPr lang="en-US" sz="1800" dirty="0"/>
              <a:t>Multiple public datasets such as RWF-2000 and UCF-Crime are used, containing videos of different lengths, qualities, and crime categories. This helps the system learn from varied real-world scenarios and improves model generalization across different environments and camera conditions.</a:t>
            </a:r>
          </a:p>
          <a:p>
            <a:pPr marL="0" indent="0">
              <a:buNone/>
            </a:pPr>
            <a:endParaRPr lang="en-IN" altLang="en-US" sz="18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542" y="74086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9812" y="198988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Gap / Challenges Being Addressed</a:t>
            </a:r>
          </a:p>
          <a:p>
            <a:r>
              <a:rPr lang="en-US" sz="1800" dirty="0"/>
              <a:t>CCTV cameras require continuous human monitoring.</a:t>
            </a:r>
          </a:p>
          <a:p>
            <a:r>
              <a:rPr lang="en-US" sz="1800" dirty="0"/>
              <a:t>Human operators may miss important incidents due to fatigue.</a:t>
            </a:r>
          </a:p>
          <a:p>
            <a:r>
              <a:rPr lang="en-US" sz="1800" dirty="0"/>
              <a:t>Traditional motion detection gives many false alarms.</a:t>
            </a:r>
          </a:p>
          <a:p>
            <a:r>
              <a:rPr lang="en-US" sz="1800" dirty="0"/>
              <a:t>Existing systems cannot understand human activities or crime situations.</a:t>
            </a:r>
          </a:p>
          <a:p>
            <a:r>
              <a:rPr lang="en-US" sz="1800" dirty="0"/>
              <a:t>Difficulty in analyzing long video streams in real time.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Clear Problem Definition</a:t>
            </a:r>
          </a:p>
          <a:p>
            <a:r>
              <a:rPr lang="en-US" sz="1800" dirty="0"/>
              <a:t>Need for an intelligent system to automatically analyze CCTV video.</a:t>
            </a:r>
          </a:p>
          <a:p>
            <a:r>
              <a:rPr lang="en-US" sz="1800" dirty="0"/>
              <a:t>System should distinguish normal activity from suspicious or criminal activity.</a:t>
            </a:r>
          </a:p>
          <a:p>
            <a:r>
              <a:rPr lang="en-US" sz="1800" dirty="0"/>
              <a:t>System should generate real-time alerts to assist security monitoring.</a:t>
            </a:r>
          </a:p>
          <a:p>
            <a:pPr marL="0" indent="0">
              <a:buNone/>
            </a:pPr>
            <a:endParaRPr lang="en-US" sz="18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045" y="62556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132" y="179748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Achieved Objectives</a:t>
            </a:r>
          </a:p>
          <a:p>
            <a:r>
              <a:rPr lang="en-US" sz="1800" dirty="0"/>
              <a:t>Implemented motion-based filtering to select active video segments.</a:t>
            </a:r>
          </a:p>
          <a:p>
            <a:r>
              <a:rPr lang="en-US" sz="1800" dirty="0"/>
              <a:t>Developed abnormal activity detection using a deep learning model.</a:t>
            </a:r>
          </a:p>
          <a:p>
            <a:r>
              <a:rPr lang="en-US" sz="1800" dirty="0"/>
              <a:t>Implemented fight detection using video-based learning.</a:t>
            </a:r>
          </a:p>
          <a:p>
            <a:r>
              <a:rPr lang="en-US" sz="1800" dirty="0"/>
              <a:t>Integrated multi-stage pipeline for crime detection from live video.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Remaining Objectives to be Achieved</a:t>
            </a:r>
          </a:p>
          <a:p>
            <a:r>
              <a:rPr lang="en-US" sz="1800" dirty="0"/>
              <a:t>Improve accuracy using larger and more diverse datasets.</a:t>
            </a:r>
          </a:p>
          <a:p>
            <a:r>
              <a:rPr lang="en-US" sz="1800" dirty="0"/>
              <a:t>Optimize system performance for real-time deployment on edge devices.</a:t>
            </a:r>
          </a:p>
          <a:p>
            <a:r>
              <a:rPr lang="en-US" sz="1800" dirty="0"/>
              <a:t>Add advanced event-level decision logic to reduce false alerts.</a:t>
            </a:r>
          </a:p>
          <a:p>
            <a:r>
              <a:rPr lang="en-US" sz="1800" dirty="0"/>
              <a:t>Extend system to support multiple camera inputs simultaneously.</a:t>
            </a:r>
          </a:p>
          <a:p>
            <a:endParaRPr lang="en-IN" altLang="en-US" sz="18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sz="2800" b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Mention Base Paper and Novelty of your Proposed Work </a:t>
            </a:r>
            <a:endParaRPr lang="en-IN" altLang="en-US" sz="28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219211"/>
              </p:ext>
            </p:extLst>
          </p:nvPr>
        </p:nvGraphicFramePr>
        <p:xfrm>
          <a:off x="556751" y="2270230"/>
          <a:ext cx="11078497" cy="18288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6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Paper Title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   Algorithm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Dataset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Research Gap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Real-World Anomaly Detection in Surveillance Videos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CNN + Temporal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UCF-Crime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AUC = 75.41%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Single-stage anomaly detection leads to false alarms; proposed work uses multi-stage filtering and real-time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F6367-4199-8F6E-C74B-BBAF46882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CBE5-8624-CAE8-F021-43CB53A9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21" y="748184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Source of 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5380D-0D8A-ABBF-14E0-DE8143D6B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879" y="1896365"/>
            <a:ext cx="11346426" cy="57792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Data Collection</a:t>
            </a:r>
          </a:p>
          <a:p>
            <a:r>
              <a:rPr lang="en-US" sz="1800" dirty="0"/>
              <a:t>Data collected from publicly available CCTV and action recognition datasets used for research purposes.</a:t>
            </a:r>
          </a:p>
          <a:p>
            <a:r>
              <a:rPr lang="en-US" sz="1800" dirty="0"/>
              <a:t>Video data includes both </a:t>
            </a:r>
            <a:r>
              <a:rPr lang="en-US" sz="1800" b="1" dirty="0"/>
              <a:t>normal activities</a:t>
            </a:r>
            <a:r>
              <a:rPr lang="en-US" sz="1800" dirty="0"/>
              <a:t> and </a:t>
            </a:r>
            <a:r>
              <a:rPr lang="en-US" sz="1800" b="1" dirty="0"/>
              <a:t>crime-related activities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Number of Instances &amp; Classes</a:t>
            </a:r>
          </a:p>
          <a:p>
            <a:r>
              <a:rPr lang="en-US" sz="1800" b="1" dirty="0"/>
              <a:t>RWF-2000 Dataset</a:t>
            </a:r>
            <a:endParaRPr lang="en-US" sz="1800" dirty="0"/>
          </a:p>
          <a:p>
            <a:pPr lvl="1"/>
            <a:r>
              <a:rPr lang="en-US" sz="1800" dirty="0"/>
              <a:t>Classes: Fight, Non-Fight</a:t>
            </a:r>
          </a:p>
          <a:p>
            <a:pPr lvl="1"/>
            <a:r>
              <a:rPr lang="en-US" sz="1800" dirty="0"/>
              <a:t>Instances: 2000 video clips</a:t>
            </a:r>
          </a:p>
          <a:p>
            <a:r>
              <a:rPr lang="en-US" sz="1800" b="1" dirty="0"/>
              <a:t>UCF-Crime Dataset</a:t>
            </a:r>
            <a:endParaRPr lang="en-US" sz="1800" dirty="0"/>
          </a:p>
          <a:p>
            <a:pPr lvl="1"/>
            <a:r>
              <a:rPr lang="en-US" sz="1800" dirty="0"/>
              <a:t>Classes: Normal and Multiple Crime Categories</a:t>
            </a:r>
          </a:p>
          <a:p>
            <a:pPr lvl="1"/>
            <a:r>
              <a:rPr lang="en-US" sz="1800" dirty="0"/>
              <a:t>Instances: Large-scale untrimmed surveillance videos covering different crime scenarios</a:t>
            </a:r>
          </a:p>
          <a:p>
            <a:pPr marL="0" indent="0">
              <a:buNone/>
            </a:pPr>
            <a:endParaRPr lang="en-US" sz="18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6502F7FB-E459-A58F-A9BC-DCA6280E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9CEF0F24-8168-92E9-D553-1F4CC337B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D76034EA-A7B5-9B9B-F83A-0EE69345AD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4F71CF-16B8-F377-8A34-650CF58813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79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17D4B-DFDA-B0CD-7114-922497B46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338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Data Characteristics</a:t>
            </a: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DA8A7-53AF-7F97-0E16-FE7E30D87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1630"/>
            <a:ext cx="10515600" cy="2055506"/>
          </a:xfrm>
        </p:spPr>
        <p:txBody>
          <a:bodyPr>
            <a:normAutofit/>
          </a:bodyPr>
          <a:lstStyle/>
          <a:p>
            <a:r>
              <a:rPr lang="en-US" sz="1800" dirty="0"/>
              <a:t>The data used contains videos of different lengths depending on the activity duration.</a:t>
            </a:r>
          </a:p>
          <a:p>
            <a:r>
              <a:rPr lang="en-US" sz="1800" dirty="0"/>
              <a:t>Video quality varies due to different CCTV environments and recording conditions.</a:t>
            </a:r>
          </a:p>
          <a:p>
            <a:r>
              <a:rPr lang="en-US" sz="1800" dirty="0"/>
              <a:t>The quantity of data differs across datasets based on model requirements.</a:t>
            </a:r>
          </a:p>
          <a:p>
            <a:r>
              <a:rPr lang="en-US" sz="1800" dirty="0"/>
              <a:t>Short video clips are used for fight detection, while longer videos are used for temporal crime analysis.</a:t>
            </a:r>
          </a:p>
          <a:p>
            <a:r>
              <a:rPr lang="en-US" sz="1800" dirty="0"/>
              <a:t>This variation helps the models learn real-world surveillance conditions and improves system robustness.</a:t>
            </a:r>
          </a:p>
          <a:p>
            <a:endParaRPr lang="en-US" sz="1800" dirty="0"/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AA0A994F-C3C0-2528-F79A-A6CC319CD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56652C30-E5E8-2B8C-AA92-FB8D27719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309B94AE-1B44-6986-1889-0F6036ACA7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8B3F38-60B7-1E7B-2BC9-E817686ADC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35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955" y="812085"/>
            <a:ext cx="10515600" cy="98806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Methodology / </a:t>
            </a:r>
            <a:r>
              <a:rPr lang="en-IN" altLang="en-US" sz="2800" b="1" dirty="0">
                <a:ln>
                  <a:noFill/>
                </a:ln>
                <a:effectLst/>
                <a:latin typeface="Bookman Old Style" panose="02050604050505020204" pitchFamily="18" charset="0"/>
                <a:sym typeface="+mn-ea"/>
              </a:rPr>
              <a:t>Proposed Framework Architecture</a:t>
            </a:r>
            <a:endParaRPr lang="en-US" sz="2800" b="1" dirty="0"/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4910D6-C452-CE3F-4D38-8A86BC0A60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55" y="1563641"/>
            <a:ext cx="11293580" cy="51411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0" y="680043"/>
            <a:ext cx="11236960" cy="132588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Methodology / </a:t>
            </a:r>
            <a:r>
              <a:rPr lang="en-IN" altLang="en-US" sz="2800" b="1" dirty="0">
                <a:ln>
                  <a:noFill/>
                </a:ln>
                <a:effectLst/>
                <a:latin typeface="Bookman Old Style" panose="02050604050505020204" pitchFamily="18" charset="0"/>
                <a:sym typeface="+mn-ea"/>
              </a:rPr>
              <a:t>Architecture of Proposed Hybrid Technique</a:t>
            </a:r>
            <a:endParaRPr lang="en-US" sz="2800" b="1" dirty="0"/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C72CD3-A543-1534-F94E-1CFDFA905F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677" y="1694834"/>
            <a:ext cx="8906646" cy="50099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925830"/>
            <a:ext cx="10515600" cy="1325563"/>
          </a:xfrm>
        </p:spPr>
        <p:txBody>
          <a:bodyPr>
            <a:normAutofit/>
          </a:bodyPr>
          <a:lstStyle/>
          <a:p>
            <a:r>
              <a:rPr lang="en-IN" altLang="en-US" sz="2800" b="1" dirty="0">
                <a:latin typeface="Bookman Old Style" panose="02050604050505020204" pitchFamily="18" charset="0"/>
              </a:rPr>
              <a:t>Graphical Results on Multiple and Real Time Dataset</a:t>
            </a:r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B3E1009-F263-0583-3C6A-BE9CD36E98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4610553"/>
              </p:ext>
            </p:extLst>
          </p:nvPr>
        </p:nvGraphicFramePr>
        <p:xfrm>
          <a:off x="2896750" y="2261031"/>
          <a:ext cx="6032205" cy="3753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723" y="1009164"/>
            <a:ext cx="10515600" cy="96394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7310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Outcome 1</a:t>
            </a:r>
          </a:p>
          <a:p>
            <a:r>
              <a:rPr lang="en-US" sz="1800" dirty="0"/>
              <a:t>Integration of all stages into a complete end-to-end CCTV crime detection system with real-time video input.</a:t>
            </a:r>
          </a:p>
          <a:p>
            <a:pPr marL="0" indent="0">
              <a:buNone/>
            </a:pPr>
            <a:r>
              <a:rPr lang="en-US" sz="1800" b="1" dirty="0"/>
              <a:t>Outcome 2</a:t>
            </a:r>
          </a:p>
          <a:p>
            <a:r>
              <a:rPr lang="en-US" sz="1800" dirty="0"/>
              <a:t>Improvement of detection accuracy and reduction of false alerts using temporal analysis and multi-stage model validation.</a:t>
            </a:r>
          </a:p>
          <a:p>
            <a:pPr marL="0" indent="0">
              <a:buNone/>
            </a:pPr>
            <a:r>
              <a:rPr lang="en-US" sz="1800" b="1" dirty="0"/>
              <a:t>Outcome 3</a:t>
            </a:r>
          </a:p>
          <a:p>
            <a:r>
              <a:rPr lang="en-US" sz="1800" dirty="0"/>
              <a:t>Development of alert generation and monitoring interface for operator review and event logging.</a:t>
            </a:r>
          </a:p>
          <a:p>
            <a:pPr marL="0" indent="0">
              <a:buNone/>
            </a:pPr>
            <a:r>
              <a:rPr lang="en-US" sz="1800" b="1" dirty="0"/>
              <a:t>Outcome 4</a:t>
            </a:r>
          </a:p>
          <a:p>
            <a:r>
              <a:rPr lang="en-US" sz="1800" dirty="0"/>
              <a:t>Optimization of system performance for stable real-time execution on limited hardware resources.</a:t>
            </a:r>
          </a:p>
          <a:p>
            <a:pPr marL="0" indent="0">
              <a:buNone/>
            </a:pPr>
            <a:r>
              <a:rPr lang="en-US" sz="1800" b="1" dirty="0"/>
              <a:t>Outcome 5</a:t>
            </a:r>
          </a:p>
          <a:p>
            <a:r>
              <a:rPr lang="en-US" sz="1800" dirty="0"/>
              <a:t>Evaluation of the proposed system on multiple datasets to validate robustness across different surveillance environments.</a:t>
            </a:r>
          </a:p>
          <a:p>
            <a:pPr marL="0" indent="0" algn="just">
              <a:buNone/>
            </a:pPr>
            <a:endParaRPr lang="en-IN" altLang="en-US" sz="18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Timeline (Gantt Chart)</a:t>
            </a:r>
            <a:endParaRPr lang="en-US" sz="2800" b="1" dirty="0"/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F20C77-F98E-43B3-6F26-65CD8B21F6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776" y="1282927"/>
            <a:ext cx="8894448" cy="5421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References</a:t>
            </a:r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101E3E-C3C6-45B0-3BC3-FE93113AA234}"/>
              </a:ext>
            </a:extLst>
          </p:cNvPr>
          <p:cNvSpPr txBox="1"/>
          <p:nvPr/>
        </p:nvSpPr>
        <p:spPr>
          <a:xfrm>
            <a:off x="599768" y="1690688"/>
            <a:ext cx="10992464" cy="4557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W. Sultani, C. Chen, and M. Shah, 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“Real-World Anomaly Detection in Surveillance Videos,”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Proceedings of the IEEE Conference on Computer Vision and Pattern Recognition (CVPR), 2018.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M. Cheng, K. Cai, and M. Li, 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“RWF-2000: An Open Large Scale Video Database for Violence Detection,”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arXiv:1911.05913, 2019.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T. Hassner, Y.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Itcher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O.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Kliper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-Gross, 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“Violent Flows: Real-Time Detection of Violent Crowd Behavior,”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IEEE CVPR Workshops, 2012.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J. Carreira and A. Zisserman, 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“Quo Vadis, Action Recognition? A New Model and the Kinetics Dataset,”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IEEE CVPR, 2017.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D. Tran et al., 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“Learning Spatiotemporal Features with 3D Convolutional Networks,”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IEEE ICCV, 2015.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 K. Simonyan and A. Zisserman, 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“Two-Stream Convolutional Networks for Action Recognition in Videos,”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Advances in Neural Information Processing Systems (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NeurIPS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2014.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[7] M. Bianculli et al., 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“A Dataset for Automatic Violence Detection in Videos,”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Data in Brief, 2020.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[8] H. Baca et al., 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“Efficient Human Violence Recognition for Surveillance Systems,”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2024.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[9] P. Zhang et al., 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“Research on Anomaly Detection of Surveillance Video Based on Deep Learning,”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2023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                                  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Bookman Old Style" panose="02050604050505020204" pitchFamily="18" charset="0"/>
            </a:endParaRPr>
          </a:p>
          <a:p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CF1C400-F40E-127E-DE15-F4BB20F4B6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230" y="1580356"/>
            <a:ext cx="9114118" cy="48418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894DA9-0DDC-ECA6-D21F-451722E0F4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601" y="1002890"/>
            <a:ext cx="9424798" cy="50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83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2F0EB0-F380-85BE-D334-B009470DF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07" y="807551"/>
            <a:ext cx="9868985" cy="52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47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472667-0A18-410C-6248-8069FE86A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55" y="846880"/>
            <a:ext cx="9720922" cy="516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97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31C34CA-56FA-486D-DD1A-135818A92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979" y="816077"/>
            <a:ext cx="9566042" cy="508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15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A3267F1-D896-C29B-577C-B2BF3B6C3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539" y="846880"/>
            <a:ext cx="9720922" cy="516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75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08A82-E67D-012F-4179-F05B4EAD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 of Team Member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80667-FD58-8BA7-E2BA-2D01607F3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Amar H M: Model Training , Model Evaluations and Article </a:t>
            </a:r>
          </a:p>
          <a:p>
            <a:r>
              <a:rPr lang="en-US" dirty="0"/>
              <a:t>Sanjay S: Planning Pipeline , UI and Report</a:t>
            </a:r>
          </a:p>
          <a:p>
            <a:r>
              <a:rPr lang="en-US" dirty="0"/>
              <a:t>Deepak Mahto: Datasets Collection , Data Cleaning and PPT</a:t>
            </a:r>
          </a:p>
          <a:p>
            <a:r>
              <a:rPr lang="en-US" dirty="0"/>
              <a:t>Shashanka N: Searching of Article and checking Plagiarisms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8383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chool of Commerce &amp; Management, Dayananda Sagar University, Bangal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pic>
        <p:nvPicPr>
          <p:cNvPr id="8" name="Picture 2" descr="Thank You Vector Art, Icons, and Graphics for Free Downloa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9" b="10251"/>
          <a:stretch>
            <a:fillRect/>
          </a:stretch>
        </p:blipFill>
        <p:spPr bwMode="auto">
          <a:xfrm>
            <a:off x="3345109" y="1371600"/>
            <a:ext cx="5593811" cy="447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1091</Words>
  <Application>Microsoft Office PowerPoint</Application>
  <PresentationFormat>Widescreen</PresentationFormat>
  <Paragraphs>126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Bookman Old Style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Contents</vt:lpstr>
      <vt:lpstr>Confernce Name and Acceptance Notification </vt:lpstr>
      <vt:lpstr>Phase I Review 3 Comments addressed  </vt:lpstr>
      <vt:lpstr>Problem Statement</vt:lpstr>
      <vt:lpstr>Objectives</vt:lpstr>
      <vt:lpstr>Mention Base Paper and Novelty of your Proposed Work </vt:lpstr>
      <vt:lpstr>Source of Data Collection</vt:lpstr>
      <vt:lpstr>Data Characteristics</vt:lpstr>
      <vt:lpstr>Methodology / Proposed Framework Architecture</vt:lpstr>
      <vt:lpstr>Methodology / Architecture of Proposed Hybrid Technique</vt:lpstr>
      <vt:lpstr>Graphical Results on Multiple and Real Time Dataset</vt:lpstr>
      <vt:lpstr>Expected Outcomes</vt:lpstr>
      <vt:lpstr>Timeline (Gantt Chart)</vt:lpstr>
      <vt:lpstr>References</vt:lpstr>
      <vt:lpstr>                                  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Contribution of Team Member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AMAR H M</cp:lastModifiedBy>
  <cp:revision>24</cp:revision>
  <dcterms:created xsi:type="dcterms:W3CDTF">2025-08-23T10:29:00Z</dcterms:created>
  <dcterms:modified xsi:type="dcterms:W3CDTF">2026-02-14T04:28:34Z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7A01B980AF6A4BFC9D512806F8C52C8F_12</vt:lpwstr>
  </property>
  <property fmtid="{D5CDD505-2E9C-101B-9397-08002B2CF9AE}" pid="3" name="KSOProductBuildVer">
    <vt:lpwstr>1033-12.2.0.23196</vt:lpwstr>
  </property>
</Properties>
</file>